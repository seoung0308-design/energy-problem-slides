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e7d8fb8c8540cb" /><Relationship Type="http://schemas.openxmlformats.org/officeDocument/2006/relationships/extended-properties" Target="/docProps/app.xml" Id="R37b362297e014d8c" /><Relationship Type="http://schemas.openxmlformats.org/officeDocument/2006/relationships/officeDocument" Target="/ppt/presentation.xml" Id="R96a0deb4c08942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757179b6a24d9c"/>
  </p:sldMasterIdLst>
  <p:notesMasterIdLst>
    <p:notesMasterId xmlns:r="http://schemas.openxmlformats.org/officeDocument/2006/relationships" r:id="R3161c87f551c43f2"/>
  </p:notesMasterIdLst>
  <p:sldIdLst>
    <p:sldId xmlns:r="http://schemas.openxmlformats.org/officeDocument/2006/relationships" id="256" r:id="R7941f6a03b0d4657"/>
    <p:sldId xmlns:r="http://schemas.openxmlformats.org/officeDocument/2006/relationships" id="257" r:id="Rc741f01b704a4999"/>
    <p:sldId xmlns:r="http://schemas.openxmlformats.org/officeDocument/2006/relationships" id="258" r:id="Rfaa52de8fafc40c0"/>
    <p:sldId xmlns:r="http://schemas.openxmlformats.org/officeDocument/2006/relationships" id="259" r:id="Rc240f2dabcf94d27"/>
    <p:sldId xmlns:r="http://schemas.openxmlformats.org/officeDocument/2006/relationships" id="260" r:id="Rb67f067e790645fe"/>
    <p:sldId xmlns:r="http://schemas.openxmlformats.org/officeDocument/2006/relationships" id="261" r:id="R91e602967e2d4ab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cac9fa27a9408a" /><Relationship Type="http://schemas.openxmlformats.org/officeDocument/2006/relationships/slideMaster" Target="/ppt/slideMasters/slideMaster1.xml" Id="R16757179b6a24d9c" /><Relationship Type="http://schemas.openxmlformats.org/officeDocument/2006/relationships/notesMaster" Target="/ppt/notesMasters/notesMaster1.xml" Id="R3161c87f551c43f2" /><Relationship Type="http://schemas.openxmlformats.org/officeDocument/2006/relationships/presProps" Target="/ppt/presProps.xml" Id="Ra06f9b786d774c81" /><Relationship Type="http://schemas.openxmlformats.org/officeDocument/2006/relationships/tableStyles" Target="/ppt/tableStyles.xml" Id="Rdb191c2ebe6b4a71" /><Relationship Type="http://schemas.openxmlformats.org/officeDocument/2006/relationships/slide" Target="/ppt/slides/slide1.xml" Id="R7941f6a03b0d4657" /><Relationship Type="http://schemas.openxmlformats.org/officeDocument/2006/relationships/slide" Target="/ppt/slides/slide2.xml" Id="Rc741f01b704a4999" /><Relationship Type="http://schemas.openxmlformats.org/officeDocument/2006/relationships/slide" Target="/ppt/slides/slide3.xml" Id="Rfaa52de8fafc40c0" /><Relationship Type="http://schemas.openxmlformats.org/officeDocument/2006/relationships/slide" Target="/ppt/slides/slide4.xml" Id="Rc240f2dabcf94d27" /><Relationship Type="http://schemas.openxmlformats.org/officeDocument/2006/relationships/slide" Target="/ppt/slides/slide5.xml" Id="Rb67f067e790645fe" /><Relationship Type="http://schemas.openxmlformats.org/officeDocument/2006/relationships/slide" Target="/ppt/slides/slide6.xml" Id="R91e602967e2d4a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b2fe91b00a42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5ec9fe2ae5b4855" /><Relationship Type="http://schemas.openxmlformats.org/officeDocument/2006/relationships/notesMaster" Target="/ppt/notesMasters/notesMaster1.xml" Id="Rf29992b2e041439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f699217fafc470b" /><Relationship Type="http://schemas.openxmlformats.org/officeDocument/2006/relationships/notesMaster" Target="/ppt/notesMasters/notesMaster1.xml" Id="R578fe89c2df7423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c93bb0f162046ed" /><Relationship Type="http://schemas.openxmlformats.org/officeDocument/2006/relationships/notesMaster" Target="/ppt/notesMasters/notesMaster1.xml" Id="Rf8ffbd3a99264d6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d749d506e0b4220" /><Relationship Type="http://schemas.openxmlformats.org/officeDocument/2006/relationships/notesMaster" Target="/ppt/notesMasters/notesMaster1.xml" Id="Raf228db7c99245b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3136eef8c8747d4" /><Relationship Type="http://schemas.openxmlformats.org/officeDocument/2006/relationships/notesMaster" Target="/ppt/notesMasters/notesMaster1.xml" Id="Re55cd9f56b8b4a8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e888d7897940d4" /><Relationship Type="http://schemas.openxmlformats.org/officeDocument/2006/relationships/notesMaster" Target="/ppt/notesMasters/notesMaster1.xml" Id="R19fc0697f08e4e9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dc3766aa9841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4f4eb3ccd64dc6" /><Relationship Type="http://schemas.openxmlformats.org/officeDocument/2006/relationships/slideLayout" Target="/ppt/slideLayouts/slideLayout1.xml" Id="R4644de98a89a440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44de98a89a440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787c28cc004a24" /><Relationship Type="http://schemas.openxmlformats.org/officeDocument/2006/relationships/notesSlide" Target="/ppt/notesSlides/notesSlide1.xml" Id="Re822d99141ae4d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85260d3c754823" /><Relationship Type="http://schemas.openxmlformats.org/officeDocument/2006/relationships/notesSlide" Target="/ppt/notesSlides/notesSlide2.xml" Id="R32ae1a8dc5924ab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79b23144c14910" /><Relationship Type="http://schemas.openxmlformats.org/officeDocument/2006/relationships/notesSlide" Target="/ppt/notesSlides/notesSlide3.xml" Id="Rd05edc6e74064dd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bffa06defc443c" /><Relationship Type="http://schemas.openxmlformats.org/officeDocument/2006/relationships/notesSlide" Target="/ppt/notesSlides/notesSlide4.xml" Id="Reeda709172c045d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7a28456632418a" /><Relationship Type="http://schemas.openxmlformats.org/officeDocument/2006/relationships/notesSlide" Target="/ppt/notesSlides/notesSlide5.xml" Id="R3a7513b830b4474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6044fcbcb84d7b" /><Relationship Type="http://schemas.openxmlformats.org/officeDocument/2006/relationships/notesSlide" Target="/ppt/notesSlides/notesSlide6.xml" Id="R541af15eec21495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14140B-CED4-424C-B276-41A5EE7E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에너지 데이터로 본 현재 문제상황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DF0BA9-23B4-4A23-ADD0-4BBCE5FD9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430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074E96-5437-4E7B-AABF-0DDF471D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895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수요 피크, 재생에너지 변동성, 부문별 에너지 수요 관리를 함께 봐야 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433E6F-5F2A-4BC3-B218-FF885A0E5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문제 발견 → 원인 가설 → 대응전략 설계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EFACB2-ACA1-41A6-8FE4-F5A68C72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2435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15.9%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DF3A34-0CA5-4F08-AA46-1C508DAD5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72050"/>
            <a:ext cx="295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09시 대비 15시 전력수요 증가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20291D-7AF1-4D4C-BAE7-F0AA7C8D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32435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DC262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DC2626"/>
                </a:solidFill>
                <a:latin typeface="Malgun Gothic"/>
                <a:ea typeface="Malgun Gothic"/>
                <a:cs typeface="Malgun Gothic"/>
              </a:rPr>
              <a:t>6.1%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5F14B5-7EA9-478D-8A7B-E74F2506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972050"/>
            <a:ext cx="266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15시 예비율 최저점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BADE8E-CB23-47EC-BE9E-140A6B4C1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324350"/>
            <a:ext cx="371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59669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059669"/>
                </a:solidFill>
                <a:latin typeface="Malgun Gothic"/>
                <a:ea typeface="Malgun Gothic"/>
                <a:cs typeface="Malgun Gothic"/>
              </a:rPr>
              <a:t>63.4→7.2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83D628-FF5B-4B43-A0C2-52E4352DA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972050"/>
            <a:ext cx="371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태양광 발전량 MWh, 12시에서 17시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ABE231-EE91-4ED7-BC05-3323BE890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103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자료: 워크숍용 축소 표본 CSV 3종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501A9E-4A7D-4336-B1C6-A8CEDE9CB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2865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074269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47C3EC-9963-440B-902D-487C52CF3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전력수급 문제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40C75A-EDD6-4375-BCC4-CD495A09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폭염 오후에는 수요가 오르고 예비율이 빠르게 낮아진다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BC4C38-9F55-42A0-8998-9E3939E03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2865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36D461-240B-4C01-A43A-0402FB6F0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00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E6C56A-773B-47FB-9825-93AEB009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00450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E793A8-8B38-496F-8834-7381DDA96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81200"/>
            <a:ext cx="9525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8B17C7-D28A-432B-9738-E2380F20D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00450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2AC33D-04F9-46CC-8A11-00B9448C0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052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70k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2365AD-4184-40ED-A79E-7626D648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60700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D99DF8-66E3-4792-B5AE-7EE25AE4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654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75k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B509E3-2D28-4767-845D-1F820495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20950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565B81-7D5D-44DF-B562-A198B31B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257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80k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C61808-0001-41B5-918A-55CF8F52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81200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907D49-8416-4799-BD14-2FE393CAD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85k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4CF327-B784-4C85-AFBD-EC827A4C3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00450"/>
            <a:ext cx="9525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5101C2-62FC-4A3D-8F59-AB1C9854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09시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1E9C61-0504-474A-B003-D5F7E133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982" y="3600450"/>
            <a:ext cx="9525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3C0902-400E-4561-8F2D-7787B2EB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5164" y="3600450"/>
            <a:ext cx="9525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B30279-34D6-497B-BB91-FCD8D5B4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6564" y="36957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11시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4744E9-194A-4522-824B-9489AC343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9345" y="3600450"/>
            <a:ext cx="9525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D0016E-EA9E-4795-A828-52871424D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3527" y="3600450"/>
            <a:ext cx="9525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F76138-DB32-4968-A1AD-091B1C7CC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4927" y="36957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13시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9BB7EC-0AD6-4492-8B83-7B49D3377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7709" y="3600450"/>
            <a:ext cx="9525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B7C57B-5949-49A2-A85D-779614452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891" y="3600450"/>
            <a:ext cx="9525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7C0B30-E7FB-4D59-A9BB-61D268A45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3291" y="36957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15시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D1F9BA-1178-4F72-A8AA-1C48E6847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6073" y="3600450"/>
            <a:ext cx="9525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9DF427-0EAA-468D-9646-58243F6DF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0255" y="3600450"/>
            <a:ext cx="9525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F18F25-B375-46F9-8AAF-62AA7CE5B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1655" y="36957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17시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9BB2F3-17AF-476E-904A-E6CA81631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4436" y="3600450"/>
            <a:ext cx="9525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E87CD0-D660-47B0-B7A3-84CD6917E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8618" y="3600450"/>
            <a:ext cx="9525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3312F1-3F17-4B13-9BB9-3EED6A29E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0018" y="36957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19시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B7D9505-4D15-4AAE-BEA2-BC3D69B9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600450"/>
            <a:ext cx="9525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661CF1-207A-45BF-B674-7C428D5D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66800" y="3077972"/>
            <a:ext cx="554182" cy="3411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F79622-CEFB-4105-BC93-68C5C3F90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620982" y="2723896"/>
            <a:ext cx="554182" cy="3540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4D246F7-2304-462F-8992-D86A7891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175164" y="2503678"/>
            <a:ext cx="554182" cy="22021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12CF4A6-AE64-433E-9341-782222F30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729345" y="2354707"/>
            <a:ext cx="554182" cy="1489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FCDDECC-B829-4370-84B6-B7C088346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283527" y="2259711"/>
            <a:ext cx="554182" cy="949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F8D6C04-A2D0-4947-8E6D-4AE3D9E0D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837709" y="2185226"/>
            <a:ext cx="554182" cy="7448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280B2A9-9CAC-4CB7-BC3B-EFCF1ADE9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891" y="2185226"/>
            <a:ext cx="554182" cy="12198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D637FDF-8FEA-4BDF-B99C-E2ED386D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6073" y="2307209"/>
            <a:ext cx="554182" cy="1673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D0721DB-14EE-46B2-AAD8-EEAF537E1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0255" y="2474531"/>
            <a:ext cx="554182" cy="1306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ECA0BC2-745A-4956-B28C-435FF25CB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4436" y="2605151"/>
            <a:ext cx="554182" cy="1899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C0F41A1-D4CA-4EC9-81E5-7C972438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8618" y="2795143"/>
            <a:ext cx="554182" cy="26663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7E581A1-C884-4F76-B002-20CBD1D6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8099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D85F871-3C6C-4F44-B639-13F9792B9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2882" y="303987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4615187-689B-41B1-AFB8-A7EC88FFA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7064" y="2685796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B6FDC6A-1D69-4AE9-82E1-D701056C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1245" y="246557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62D2AC2-AB33-4F24-98A3-D753005CD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5427" y="231660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B13D2F6-868F-4761-9FEC-E495A12BA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9609" y="222161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2150B7A-5905-4E33-9D14-253C6299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791" y="2147126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EB0DDFA-A8E3-4F7E-85A4-CBA5D055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973" y="2269109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9F0BF2C-F674-4C27-8B7E-527AA372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2155" y="243643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417435A-929F-4AAC-865C-B5263F3C1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6336" y="256705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2F09D7C-EA3A-4C2F-A8C7-67F9178B5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0518" y="275704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6DA6898-6F9F-45E5-98E0-7EB2440C6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2368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7325C1F-8BBE-469A-A6A6-ADC908C26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전력수요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EBB3443-3C8F-42FC-B9E3-9B08E51A1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7DF52A5-5642-4505-B252-EA9FB4815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9525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5E22982-7B38-4916-92F8-A17591218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A6B40D1-C2D0-44C9-AFE6-D79BC0A76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244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0%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93E2253-E603-4083-90EE-FCBDAFCC0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23460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AAC8662-3645-4444-8CBD-4434A5BEA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2821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10%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1847322-9A6F-413A-A821-8F10AE854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27220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99573CE-383B-49C6-B1DA-EAD7BCC0D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3197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20%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482664A-36B8-4EE7-86F7-521FEAB8D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9525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4A2E566-28FF-45ED-99AA-0A5DC700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14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09시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29E5DD1-73E2-45AD-9AF5-9BD0ABB4D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982" y="5219700"/>
            <a:ext cx="9525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2BA5049-CE5F-4B68-81BB-6D368E19D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5164" y="5219700"/>
            <a:ext cx="9525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D8F2041-E472-4D37-8081-09896F86F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6564" y="5314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11시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3E441F3-EFB7-4FE3-A1B3-750BF38F4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9345" y="5219700"/>
            <a:ext cx="9525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FB31CC4-81F6-433A-931E-6CBBFD555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3527" y="5219700"/>
            <a:ext cx="9525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80DE079-F92A-4168-B611-0F915C42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4927" y="5314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13시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9CA68E0-EB33-4EEF-9D06-FBD849A60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7709" y="5219700"/>
            <a:ext cx="9525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D301CF9-010A-449E-8EC2-D7F8AC8F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891" y="5219700"/>
            <a:ext cx="9525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C6ACB4C-FA33-410E-A1E9-B76C8E173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3291" y="5314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15시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9C817B6-22CC-42AB-B0F9-8C721A2A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6073" y="5219700"/>
            <a:ext cx="9525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7615DBD-D1CA-4175-80DF-590425494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0255" y="5219700"/>
            <a:ext cx="9525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B6D358E-897B-4E3E-90AC-1773AE68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1655" y="5314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17시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C0CFA99-B909-4585-B96A-778001D39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4436" y="5219700"/>
            <a:ext cx="9525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24BA49B-BADA-4CBF-844C-FEB3C14B1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8618" y="5219700"/>
            <a:ext cx="9525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847346E-23A6-489D-9674-F30A7B1BD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0018" y="5314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19시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3469B8C-5636-4D56-9B3A-5CB5C68E8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219700"/>
            <a:ext cx="9525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79524F6-C759-4D11-9D5E-A33FDA994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08348"/>
            <a:ext cx="554182" cy="20208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C2626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C2A065B-944F-4039-8AB7-A3C3AC8B0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982" y="4510430"/>
            <a:ext cx="554182" cy="1981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C2626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A295BD8-C5A4-4F4E-AEE3-425754CD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5164" y="4708550"/>
            <a:ext cx="554182" cy="11491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C2626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2D6624C-91D5-43CC-9B42-1229B902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9345" y="4823460"/>
            <a:ext cx="554182" cy="713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C2626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34DEACB-FB30-44C4-BF58-1C9A9BB85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3527" y="4894783"/>
            <a:ext cx="554182" cy="4754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C2626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63C8B6D-E743-4A74-BFBC-39D25B883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7709" y="4942332"/>
            <a:ext cx="554182" cy="3566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C2626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BC7FBCB-4965-4D61-A61A-C07FADBDB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391891" y="4918558"/>
            <a:ext cx="554182" cy="5943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C2626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DEA5FEF-BC2C-41FD-9E21-2BF46F02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946073" y="4835347"/>
            <a:ext cx="554182" cy="8321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C2626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95B2FBC-FF20-4B3F-9F30-F87FC9CB3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500255" y="4771949"/>
            <a:ext cx="554182" cy="6339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C2626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F053D20-DDBC-4B83-8B7E-47DB579C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054436" y="4668926"/>
            <a:ext cx="554182" cy="1030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C2626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F14A18A-46B1-466E-8263-DA0DBA1C6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608618" y="4522318"/>
            <a:ext cx="554182" cy="14660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C2626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C9D971C4-0224-45EC-BA39-D45FC7200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7024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2E5BC8A-6B04-429A-A266-665412C66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2882" y="447233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74FAD1A-75D5-43F8-AA71-0222FD352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7064" y="4670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3B6CABA-3E36-4C12-9171-4EE433AEF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1245" y="478536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EB9EEAD-EAE2-47DA-9FC4-3D45569E4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5427" y="485668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F8DBD56-7203-4754-979B-BD9AF432B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9609" y="490423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C4454AD-64CC-4301-8B85-9C47F42D6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791" y="493989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9A4E776-A96F-4AE6-8AE1-84997FD4A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973" y="488045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37B31C4-21CC-4AB1-BFF3-595BC9252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2155" y="479724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DAF11BD5-EBA3-49AE-8B04-47013EA9A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6336" y="4733849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14A027C-D676-4DBB-8DCB-DD266AA0E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0518" y="4630826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F04A4FF-55FD-4B5A-86D5-C0690C1E2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48421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5384A0D-0EFE-4BC6-95AC-5F9504BFE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C262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DC2626"/>
                </a:solidFill>
                <a:latin typeface="Malgun Gothic"/>
                <a:ea typeface="Malgun Gothic"/>
                <a:cs typeface="Malgun Gothic"/>
              </a:rPr>
              <a:t>예비율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F23526F-C095-4AB2-B4F8-58E087E39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3835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15.9%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06A2074-DA44-4CAD-840A-C95779554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8605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09시 대비 15시 수요 증가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EF14074-CC92-4258-B965-CD6AA665E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54330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DC262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DC2626"/>
                </a:solidFill>
                <a:latin typeface="Malgun Gothic"/>
                <a:ea typeface="Malgun Gothic"/>
                <a:cs typeface="Malgun Gothic"/>
              </a:rPr>
              <a:t>6.1%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BD7A7B3-D994-4D48-A0B5-9813467DE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19100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15시 예비율 최저점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8A8EE76D-5732-4A49-83A5-BAB4BD772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0101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피크 시간에는 공급 확충보다 먼저 수요를 낮추는 운영수단이 필요하다.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2C723D5E-728A-40A1-8F57-A16801405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103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자료: electricity-demand-sample.csv, 2025-08-04 Korea system 표본.</a:t>
            </a:r>
          </a:p>
        </p:txBody>
      </p:sp>
    </p:spTree>
    <p:extLst>
      <p:ext uri="{BB962C8B-B14F-4D97-AF65-F5344CB8AC3E}">
        <p14:creationId xmlns:p14="http://schemas.microsoft.com/office/powerpoint/2010/main" val="17813525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FDCEFF-04B4-4689-9963-4395FE321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재생에너지 변동성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6CFEB8-D170-465B-818C-4855E937A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태양광은 정오에 강하지만 늦은 오후 피크를 그대로 책임지기 어렵다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6EB447-0370-4637-A309-A7867BA47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2865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7AEA2C-AFFC-449D-ADD2-5F2396B3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00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E1B03A-246C-41ED-9057-8D61A89A4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52950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850AD1-4D40-412B-A191-7DEDB08C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71700"/>
            <a:ext cx="9525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46F7D6-CD63-475D-A3E9-CE76F964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52950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388349-745B-414B-9B36-6F20C86EE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577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C595A2-6D31-43A0-B965-68CB4A157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72593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A08A73-08B5-49BD-8147-BB6C0F01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77343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A6C08B-AF9E-42DE-B9A5-810913CEA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92236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D05CCE-2C3B-4E30-B26E-20CC52340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96986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40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3E3AB0-7177-430D-85D5-1348FF330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11879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245C95-9E9E-447E-B592-E04859C33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16629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60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E1E0F8-272E-41AF-8F47-D70951335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52950"/>
            <a:ext cx="9525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6E8F44-ACA4-4B4D-BCFC-9DD5C915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48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08시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C28ED4-690B-4406-ACCD-74F8DBF2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9383" y="4552950"/>
            <a:ext cx="9525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341ECC-F369-4044-A83A-D8DCC4F12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6717" y="4552950"/>
            <a:ext cx="9525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C58BED-72A9-4515-9A07-FA29DEBE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8117" y="4648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10시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A14209-611A-4AD4-B055-E19844851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0" y="4552950"/>
            <a:ext cx="9525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D8553E-51C4-47E6-8F08-BA443C91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1383" y="4552950"/>
            <a:ext cx="9525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10690F-2FBC-4169-8B81-4EE8E5AF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2783" y="4648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12시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03DAF8-1E14-4887-85E5-DA17A9AEF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8717" y="4552950"/>
            <a:ext cx="9525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50601B-AF59-4676-A23F-BB5F7457A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6050" y="4552950"/>
            <a:ext cx="9525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F1475C-CE26-4383-B1AE-84F277CB4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7450" y="4648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14시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2FEEFF-8C43-40BD-9C3B-6C2A8DAFD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3383" y="4552950"/>
            <a:ext cx="9525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98100D-774B-4E26-B219-ECF39186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0717" y="4552950"/>
            <a:ext cx="9525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0FEEB3-E6E9-47C3-9DD9-313499C5F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2117" y="4648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16시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0FE824-F8D0-432A-8608-D83AC4C2F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552950"/>
            <a:ext cx="9525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075C79-9F45-49E1-B60E-E36E68ADB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62050" y="3355521"/>
            <a:ext cx="677333" cy="56809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5966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239428-A91E-4740-B8EE-266B6F867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839383" y="2865664"/>
            <a:ext cx="677333" cy="48985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5966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E99C10-6485-4CF4-B50B-B922DE0F8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516717" y="2586718"/>
            <a:ext cx="677333" cy="27894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5966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400CBC-8A63-4AFC-9C11-8E96B18C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194050" y="2396218"/>
            <a:ext cx="677333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5966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596852-0E94-491C-80CC-2E0C83967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1383" y="2396218"/>
            <a:ext cx="677333" cy="14627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5966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EF34FDA-DAFC-498E-BAA7-F2DB1D9D9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8717" y="2542495"/>
            <a:ext cx="677333" cy="36739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5966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CABB5B8-CDCB-4DC6-A82D-CFCB2EC95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6050" y="2909888"/>
            <a:ext cx="677333" cy="3946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5966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19F27F7-C524-4C00-9261-5C02C9D23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3383" y="3304495"/>
            <a:ext cx="677333" cy="60551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5966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62F6A09-3DF0-419D-8181-3A3E452E3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0717" y="3910013"/>
            <a:ext cx="677333" cy="39800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5966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05EFDA7-C45E-4DB3-8C3B-38003CE6C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8552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9D1ED0A-9B11-42C3-BC7F-CB5FE971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1283" y="331742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52C7D8D-9904-4B4C-8257-241CD217B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8617" y="282756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726915F-C699-48F2-80FC-B67645B6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5950" y="254861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AB9AD56-0B57-4D65-8BE6-534CBB963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3283" y="235811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C50E590-82C1-42C2-8618-592A0E2C3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0617" y="250439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A18DEE6-B6BC-480A-B669-381D3157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7950" y="287178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D6CCCE8-873E-4FBE-ADAC-2CD034CBF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283" y="326639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45280CA-BC7B-4872-B021-79BB40C66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2617" y="387191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CEAFB20-9B77-4413-A0F2-628AECDE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26992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EA333CB-4C01-4CC7-9F16-7E113359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62050" y="3777343"/>
            <a:ext cx="677333" cy="35378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7706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B6F0504-DEAC-4895-A128-ED6367036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839383" y="3307896"/>
            <a:ext cx="677333" cy="46944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7706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5513F03-72F7-454C-8D5C-60133CF7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516717" y="2913289"/>
            <a:ext cx="677333" cy="3946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770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282703D-C970-4C60-ABDF-53CC30CC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194050" y="2607129"/>
            <a:ext cx="677333" cy="30616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770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2F0B740-7C9E-40A4-A186-9AEBEDC4F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1383" y="2607129"/>
            <a:ext cx="677333" cy="8164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770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305B015-A672-4CBE-8DD8-C5D61FD6F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8717" y="2688771"/>
            <a:ext cx="677333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770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5E394F8-29CD-4868-A9A1-01BF6C3FF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6050" y="3069771"/>
            <a:ext cx="677333" cy="44903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770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C1381F8-46D4-4BA5-A445-EAA3ECDD6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3383" y="3518807"/>
            <a:ext cx="677333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770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B9F63C6-B246-46FC-9559-2AFFC3550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0717" y="3995057"/>
            <a:ext cx="677333" cy="34698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7706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947FAAF-521D-4C41-944D-2B734D47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93029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A60B1A7-55F7-42D6-A47B-45D64853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1283" y="373924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0CC003F-FD54-4211-8214-96569929D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8617" y="3269796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53BE095-1F8F-41CC-970E-8224BE50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5950" y="2875189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AA96139-9639-49ED-98C7-22264F68C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3283" y="2569029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863225E-2064-4C34-BEAF-8BF41477E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0617" y="265067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D83E333-1BD8-4538-9022-F5F8684B1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7950" y="303167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CFE94D4-FAE7-409D-9503-F22FAF3E4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283" y="348070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4D72C60-CDEC-417C-AE3A-68509A7D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2617" y="395695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7AFDE5F-B384-4D92-9BFA-99AF15FD6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303939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714B455-A943-4961-852A-0CFF0CA8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196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B90BE93-3D9B-4141-B727-BB8D711C3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7053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태양광 발전량(MWh)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896EE7E-5508-4D09-BAF5-9DB846EDE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8196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DBA664F-2437-4D84-97E8-0536492B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7053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일사량×20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488E319-3089-4FA7-8AE7-7D4970D3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0540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일사량은 차트 가독성을 위해 20배 배율로 표시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03AF8FD-213B-4EC0-B167-E04BBCF8C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8120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59669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059669"/>
                </a:solidFill>
                <a:latin typeface="Malgun Gothic"/>
                <a:ea typeface="Malgun Gothic"/>
                <a:cs typeface="Malgun Gothic"/>
              </a:rPr>
              <a:t>63.4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6A60C4C-352D-4952-AE44-008FBE7BF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2890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12시 발전량 MWh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5E8DDA3-7740-4115-B093-81E6F52D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35280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7.2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C50E605-C995-4EA5-94BC-BA339C536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0050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17시 발전량 MWh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B43A401-A156-423D-AC72-951FDCAD9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876800"/>
            <a:ext cx="285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예측, 저장, 분산자원 연계 없이는 피크 대응 효과가 시간대에 따라 달라진다.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F935016-B0E3-442A-95FF-F0DA18C4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103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자료: solar-weather-sample.csv, 2025-04-16 제주 표본. 일사량 계열은 표시용 배율 적용.</a:t>
            </a:r>
          </a:p>
        </p:txBody>
      </p:sp>
    </p:spTree>
    <p:extLst>
      <p:ext uri="{BB962C8B-B14F-4D97-AF65-F5344CB8AC3E}">
        <p14:creationId xmlns:p14="http://schemas.microsoft.com/office/powerpoint/2010/main" val="20422032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832140-348A-4C19-B1CA-6064A4F8E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최종 에너지 사용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DAE7AB-0799-4F71-91A3-B3F0378E7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부문별 에너지 문제는 같은 처방으로 풀리지 않는다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2BFE61-6C47-4FB0-9906-0A479AB3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2865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CA29A4-290B-46B9-8D66-B5DBB76F0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00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7F5394-37E2-4A35-973B-62ABA1F90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10100"/>
            <a:ext cx="561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7F7F71-B045-4129-BAA3-127336AA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33600"/>
            <a:ext cx="9525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1581EB-662A-4E54-BFD8-E3AA0151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10100"/>
            <a:ext cx="561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78EBED-DB1E-4100-AAEF-47F144B6E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14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800A99-917D-4C5E-96CB-133A11D83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57600"/>
            <a:ext cx="561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D8EB95-9280-4285-8CA3-9EA01836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623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500k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5B0032-67D2-48FB-819B-07DE72E38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05100"/>
            <a:ext cx="561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EEDF3E-673A-4FB6-BE80-01AFB2173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1000k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946184-7FB6-4841-9626-3F8B7DF03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8625" y="47244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제조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BED527-9049-4C79-84A0-E798AD732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225" y="2272475"/>
            <a:ext cx="552450" cy="23376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0BCB83-2D1F-4C09-91E0-617EDA6F5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4875" y="2300478"/>
            <a:ext cx="552450" cy="23096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11BB5B-7AB4-40AC-905A-87FD071A6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7244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상업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A28517-6FBD-48D3-97BA-04CDCBC4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498914"/>
            <a:ext cx="552450" cy="11111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E948AE-6EEF-42B5-93C0-127625620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458147"/>
            <a:ext cx="552450" cy="11519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1C745C-1BF0-4300-A317-670173FD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5" y="47244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주거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133162-67AB-42EB-88C0-98C61FF9E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2725" y="3809810"/>
            <a:ext cx="552450" cy="8002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0943F0-785E-4CFE-BDE8-C0AE0B07A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1375" y="3775329"/>
            <a:ext cx="552450" cy="8347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27604E-955B-44A3-A6E1-AC6A8B36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67300"/>
            <a:ext cx="304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F73EC6-C032-4DD1-948F-74BBA97A9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953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2020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94E208-6E67-46A8-92DE-E643349A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067300"/>
            <a:ext cx="304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95DF21-0765-4556-9B76-344E47560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953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2023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EE0546-3101-4768-B85F-BEDCC91C3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240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2CC549-9F64-491F-A46F-99EE9CAC3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383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제조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DECFB2-05FA-4E14-B9CD-0B910A5D1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03835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59669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59669"/>
                </a:solidFill>
                <a:latin typeface="Malgun Gothic"/>
                <a:ea typeface="Malgun Gothic"/>
                <a:cs typeface="Malgun Gothic"/>
              </a:rPr>
              <a:t>-1.2%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CB6F2F-1889-459B-B1F8-90C302C1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574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총에너지 | 전력 +0.8% | 집약도 -4.4p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49F8F5-2E16-47E7-967B-50AB1D4B7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289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DBE5E7-D72F-4E1B-A5D6-0C01B56ED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432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상업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5ECC53-12E3-4417-B311-EE81C1D73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14325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+3.7%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455599-99E2-467A-BC1D-BC5FCF987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623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총에너지 | 전력 +6.1% | 집약도 -1.1p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77B91B8-5487-4713-80CE-8B14F207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33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23D64E6-889C-4895-805F-B2583DFDE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2481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주거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88CD50B-6B56-436E-BF55-E340B742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24815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+4.3%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8D6D718-6657-418D-BDD7-A29696A67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6672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총에너지 | 전력 +4.0% | 집약도 -0.3p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8A12E55-2CF3-4558-A9F6-52A42E59F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530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제조는 효율 개선 흐름이 보이지만, 상업·주거는 사용량 증가 관리가 더 중요하다.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6E4C81D-FAAF-44FF-B888-811BE6A6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103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자료: energy-use-sample.csv, 2020-2023 부문별 표본.</a:t>
            </a:r>
          </a:p>
        </p:txBody>
      </p:sp>
    </p:spTree>
    <p:extLst>
      <p:ext uri="{BB962C8B-B14F-4D97-AF65-F5344CB8AC3E}">
        <p14:creationId xmlns:p14="http://schemas.microsoft.com/office/powerpoint/2010/main" val="4942305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50E34D-136A-4C2C-AFA5-DC0C84238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대응전략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A2F06F-BE83-43B0-A4A9-7BAD86F4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해결방안은 피크, 변동성, 효율을 동시에 다뤄야 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03A84F-3844-4565-9B1F-427E92BF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2865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F9C30F-FFDF-4918-A1A9-2F235600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00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D9DF89-835A-4DE9-9BE0-4DE1BBEF6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2405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0A7BBF-C107-46D0-8A1D-533B7FED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DC2626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DC2626"/>
                </a:solidFill>
                <a:latin typeface="Malgun Gothic"/>
                <a:ea typeface="Malgun Gothic"/>
                <a:cs typeface="Malgun Gothic"/>
              </a:rPr>
              <a:t>단기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5CD9A8-8AEC-4490-94ED-61CFFE9ED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241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피크 시간 운영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3918FA-76D4-4816-8CC9-1D19C966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718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5EE6EA-1BA2-4896-B1E2-6DEBDFB8D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2781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수요반응 프로그램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148719-E323-484A-8FD7-C4B2ECCF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243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09ADB8-AA65-4175-B18D-72791381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2781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냉방 부하 관리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F4647E-0B09-43BF-A849-53787649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767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E3C019-1CB9-49CE-984A-C191A33A7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57700"/>
            <a:ext cx="2781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예비율 모니터링 강화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CE0A0A-91B1-4100-801F-F667E58CB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92405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C83381-E133-45BF-B1C8-E362EDC43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190750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중기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479EEC-0B8D-4BBC-9945-AE3EE0383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7241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변동성 완충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09379D-43E5-447A-85A9-37278E183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3718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11E8C4-F370-472F-90AB-D81D8DC8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352800"/>
            <a:ext cx="2781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태양광 예측 고도화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FD2F17-E7B2-4C60-9C3A-D893BA694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9243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056C60-4D18-4BE3-B9EA-D570515F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905250"/>
            <a:ext cx="2781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저장장치 연계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2D17B5-B055-4A55-82C2-4D2A8F3D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4767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91565B-E676-4D95-A8BB-564AC0B9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457700"/>
            <a:ext cx="2781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분산자원 운영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02CF5D-F48F-4642-976E-F09DD69B0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2405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28A20F-3D05-4D88-AB18-F15EA6FD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90750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59669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059669"/>
                </a:solidFill>
                <a:latin typeface="Malgun Gothic"/>
                <a:ea typeface="Malgun Gothic"/>
                <a:cs typeface="Malgun Gothic"/>
              </a:rPr>
              <a:t>장기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15AC39-B2E8-45C8-9009-F4797E6CB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241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구조적 효율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A5D699-4F02-461B-8642-1D73E5C39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718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933B54-459E-4C94-B2AB-6C930572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352800"/>
            <a:ext cx="2781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상업·주거 효율 개선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911CAB-95E2-40DE-80DF-6DD07A3F2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9243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81FFB2-9028-4409-ACD1-7FA3EF6D1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905250"/>
            <a:ext cx="2781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고효율 설비 전환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30EE83-DEAF-4626-8793-7852A3C8B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767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7D17CC-82F9-413B-A8F9-41E7337E2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457700"/>
            <a:ext cx="2781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인센티브 기반 요금제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FD4351-E585-453E-BF49-B32E3DF8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816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관찰된 문제와 직접 연결되는 순서로 실행한다: 먼저 피크를 낮추고, 변동성을 흡수하며, 장기적으로 수요 구조를 바꾼다.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194183-9066-4312-92AB-AA46D1FA1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103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대응전략은 세 표본에서 관찰된 수요 피크, 태양광 변동성, 부문별 사용량 변화를 연결한 교육용 제안.</a:t>
            </a:r>
          </a:p>
        </p:txBody>
      </p:sp>
    </p:spTree>
    <p:extLst>
      <p:ext uri="{BB962C8B-B14F-4D97-AF65-F5344CB8AC3E}">
        <p14:creationId xmlns:p14="http://schemas.microsoft.com/office/powerpoint/2010/main" val="650533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984108-4473-457C-9898-1E6706B6E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우선순위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BE962C-8845-4B98-8E09-4C83922E0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실행 우선순위는 세 가지 질문으로 정리할 수 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854015-8F9D-49EF-9F60-A2FEA3B55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2865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967915-69FE-40F6-BF25-7FC71B0AF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00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74CD54-8CC1-4B0C-A3C2-6C5C96ECE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66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DC2626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DC2626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997490-0CD6-457B-A4A4-1AE5D688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9240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피크 감축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D3BD03-FD93-4B05-AE6E-E84FF139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381250"/>
            <a:ext cx="819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가장 낮은 예비율이 나타나는 시간의 전력수요를 얼마나 줄일 수 있는가?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1C1B5B-D495-48CD-A263-2FE1A47A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C13026-9A5C-4ED3-BE2A-3C76C3C09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66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DDC4B9-307A-49DE-8AC3-4005E3329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432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변동성 완충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2E9F9B-D63F-4F26-91F9-D47EDC66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600450"/>
            <a:ext cx="819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태양광 출력 저하 시간에 저장장치와 분산자원이 얼마나 보완할 수 있는가?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1375BA-BD83-4BA5-9509-D5FC5DE0C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CCB33B-2A9A-49F8-BFB9-DFADE06C2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24350"/>
            <a:ext cx="66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059669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059669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221823-A27E-416A-B508-54C55F76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362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부문별 효율 개선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963283-C955-400D-B698-3D596A762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19650"/>
            <a:ext cx="819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상업·주거의 증가세와 제조의 효율 개선을 부문별 정책으로 나눠 다룰 수 있는가?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6A65DC-4DAF-429B-9A3E-7C62ACF37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911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60BCE3-B927-4FF4-A4FA-97DE5E67F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이 표본의 결론은 단순한 공급 확대가 아니라, 시간대와 부문을 나눠 수요를 설계해야 한다는 점이다.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D68FC7-6182-420E-969C-F60E45893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103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자료 한계: 수업용 축소 표본이며 공식 현황 판단용 데이터가 아님.</a:t>
            </a:r>
          </a:p>
        </p:txBody>
      </p:sp>
    </p:spTree>
    <p:extLst>
      <p:ext uri="{BB962C8B-B14F-4D97-AF65-F5344CB8AC3E}">
        <p14:creationId xmlns:p14="http://schemas.microsoft.com/office/powerpoint/2010/main" val="8369813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2026-07-03T04:25:19.3870000Z</dcterms:created>
  <dcterms:modified xsi:type="dcterms:W3CDTF">2026-07-03T04:25:19.3870000Z</dcterms:modified>
</coreProperties>
</file>